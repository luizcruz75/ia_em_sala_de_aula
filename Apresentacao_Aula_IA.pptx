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797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F96167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760720"/>
            <a:ext cx="2377440" cy="2377440"/>
          </a:xfrm>
          <a:prstGeom prst="ellipse">
            <a:avLst/>
          </a:prstGeom>
          <a:solidFill>
            <a:srgbClr val="F9E795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· 6º ANO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8686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Frações e</a:t>
            </a:r>
            <a:endParaRPr lang="en-US" sz="46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Representações Visuais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Compreendendo a fração como parte-todo através de retângulos e pizzas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5176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didático · Assistido por IA, com revisão humana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 que é uma fração?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760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fração representa uma </a:t>
            </a: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um todo</a:t>
            </a:r>
            <a:r>
              <a:rPr lang="en-US" sz="18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uma pizza dividida em 8 pedaços iguais. Se você comer 3 pedaços, terá comido 3/8 da pizza inteira.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fração mostra quantas partes foram tomadas e quantas partes formam o todo.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0" y="1828800"/>
            <a:ext cx="3474720" cy="3474720"/>
          </a:xfrm>
          <a:prstGeom prst="pie">
            <a:avLst>
              <a:gd name="adj1" fmla="val 0"/>
              <a:gd name="adj2" fmla="val 2700000"/>
            </a:avLst>
          </a:prstGeom>
          <a:solidFill>
            <a:srgbClr val="F96167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1828800"/>
            <a:ext cx="3474720" cy="3474720"/>
          </a:xfrm>
          <a:prstGeom prst="pie">
            <a:avLst>
              <a:gd name="adj1" fmla="val 2700000"/>
              <a:gd name="adj2" fmla="val 5400000"/>
            </a:avLst>
          </a:prstGeom>
          <a:solidFill>
            <a:srgbClr val="F96167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1828800"/>
            <a:ext cx="3474720" cy="3474720"/>
          </a:xfrm>
          <a:prstGeom prst="pie">
            <a:avLst>
              <a:gd name="adj1" fmla="val 5400000"/>
              <a:gd name="adj2" fmla="val 8100000"/>
            </a:avLst>
          </a:prstGeom>
          <a:solidFill>
            <a:srgbClr val="F96167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1828800"/>
            <a:ext cx="3474720" cy="3474720"/>
          </a:xfrm>
          <a:prstGeom prst="pie">
            <a:avLst>
              <a:gd name="adj1" fmla="val 8100000"/>
              <a:gd name="adj2" fmla="val 10800000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1828800"/>
            <a:ext cx="3474720" cy="3474720"/>
          </a:xfrm>
          <a:prstGeom prst="pie">
            <a:avLst>
              <a:gd name="adj1" fmla="val 10800000"/>
              <a:gd name="adj2" fmla="val 13500000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0" y="1828800"/>
            <a:ext cx="3474720" cy="3474720"/>
          </a:xfrm>
          <a:prstGeom prst="pie">
            <a:avLst>
              <a:gd name="adj1" fmla="val 135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1828800"/>
            <a:ext cx="3474720" cy="3474720"/>
          </a:xfrm>
          <a:prstGeom prst="pie">
            <a:avLst>
              <a:gd name="adj1" fmla="val 16200000"/>
              <a:gd name="adj2" fmla="val 18900000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1828800"/>
            <a:ext cx="3474720" cy="3474720"/>
          </a:xfrm>
          <a:prstGeom prst="pie">
            <a:avLst>
              <a:gd name="adj1" fmla="val 18900000"/>
              <a:gd name="adj2" fmla="val 21600000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5486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3/8 da pizza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Numerador e denominador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2926080" cy="2926080"/>
          </a:xfrm>
          <a:prstGeom prst="roundRect">
            <a:avLst>
              <a:gd name="adj" fmla="val 4688"/>
            </a:avLst>
          </a:prstGeom>
          <a:solidFill>
            <a:srgbClr val="F9E79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488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1005840" y="3566160"/>
            <a:ext cx="2377440" cy="0"/>
          </a:xfrm>
          <a:prstGeom prst="line">
            <a:avLst/>
          </a:prstGeom>
          <a:noFill/>
          <a:ln w="38100">
            <a:solidFill>
              <a:srgbClr val="2F3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6118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206240" y="21945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Numerador 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número de cima. Mostra quantas partes foram consideradas.
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Denominador 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número de baixo. Mostra em quantas partes iguais o inteiro foi dividido.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06240" y="5303520"/>
            <a:ext cx="7223760" cy="822960"/>
          </a:xfrm>
          <a:prstGeom prst="roundRect">
            <a:avLst>
              <a:gd name="adj" fmla="val 13333"/>
            </a:avLst>
          </a:prstGeom>
          <a:solidFill>
            <a:srgbClr val="FFFBF2"/>
          </a:solidFill>
          <a:ln w="19050">
            <a:solidFill>
              <a:srgbClr val="F9E7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530352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em 1/4, o chocolate foi dividido em 4 partes iguais e 1 parte foi comida.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IMPORTANTE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As partes precisam ter</a:t>
            </a:r>
            <a:endParaRPr lang="en-US" sz="34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 mesmo tamanho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6583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representar frações corretamente, todas as partes de uma figura devem ser iguais. Se uma pizza for cortada em pedaços muito diferentes, não podemos dizer que cada pedaço representa a mesma fração.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863840" y="3657600"/>
            <a:ext cx="891540" cy="822960"/>
          </a:xfrm>
          <a:prstGeom prst="rect">
            <a:avLst/>
          </a:prstGeom>
          <a:solidFill>
            <a:srgbClr val="F96167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55380" y="3657600"/>
            <a:ext cx="891540" cy="822960"/>
          </a:xfrm>
          <a:prstGeom prst="rect">
            <a:avLst/>
          </a:prstGeom>
          <a:solidFill>
            <a:srgbClr val="F96167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46920" y="3657600"/>
            <a:ext cx="8915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38460" y="3657600"/>
            <a:ext cx="8915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4572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Partes iguais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5212080"/>
            <a:ext cx="548640" cy="822960"/>
          </a:xfrm>
          <a:prstGeom prst="rect">
            <a:avLst/>
          </a:prstGeom>
          <a:solidFill>
            <a:srgbClr val="F96167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0" y="5212080"/>
            <a:ext cx="18288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0" y="5212080"/>
            <a:ext cx="11887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6126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Partes desiguais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Duas formas de representar frações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48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Retângulos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969264" cy="1188720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92224" y="2880360"/>
            <a:ext cx="969264" cy="1188720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61488" y="2880360"/>
            <a:ext cx="969264" cy="1188720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30752" y="2880360"/>
            <a:ext cx="969264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0016" y="2880360"/>
            <a:ext cx="969264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251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 5 partes pintadas → 3/5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8463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Divide-se a figura em partes iguais lado a lado, como uma barra.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2148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Pizzas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863840" y="3108960"/>
            <a:ext cx="2103120" cy="2103120"/>
          </a:xfrm>
          <a:prstGeom prst="pie">
            <a:avLst>
              <a:gd name="adj1" fmla="val 0"/>
              <a:gd name="adj2" fmla="val 2700000"/>
            </a:avLst>
          </a:prstGeom>
          <a:solidFill>
            <a:srgbClr val="F96167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3108960"/>
            <a:ext cx="2103120" cy="2103120"/>
          </a:xfrm>
          <a:prstGeom prst="pie">
            <a:avLst>
              <a:gd name="adj1" fmla="val 2700000"/>
              <a:gd name="adj2" fmla="val 5400000"/>
            </a:avLst>
          </a:prstGeom>
          <a:solidFill>
            <a:srgbClr val="F96167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3108960"/>
            <a:ext cx="2103120" cy="2103120"/>
          </a:xfrm>
          <a:prstGeom prst="pie">
            <a:avLst>
              <a:gd name="adj1" fmla="val 5400000"/>
              <a:gd name="adj2" fmla="val 8100000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3108960"/>
            <a:ext cx="2103120" cy="2103120"/>
          </a:xfrm>
          <a:prstGeom prst="pie">
            <a:avLst>
              <a:gd name="adj1" fmla="val 8100000"/>
              <a:gd name="adj2" fmla="val 10800000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0" y="3108960"/>
            <a:ext cx="2103120" cy="2103120"/>
          </a:xfrm>
          <a:prstGeom prst="pie">
            <a:avLst>
              <a:gd name="adj1" fmla="val 10800000"/>
              <a:gd name="adj2" fmla="val 13500000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0" y="3108960"/>
            <a:ext cx="2103120" cy="2103120"/>
          </a:xfrm>
          <a:prstGeom prst="pie">
            <a:avLst>
              <a:gd name="adj1" fmla="val 135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0" y="3108960"/>
            <a:ext cx="2103120" cy="2103120"/>
          </a:xfrm>
          <a:prstGeom prst="pie">
            <a:avLst>
              <a:gd name="adj1" fmla="val 16200000"/>
              <a:gd name="adj2" fmla="val 18900000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0" y="3108960"/>
            <a:ext cx="2103120" cy="2103120"/>
          </a:xfrm>
          <a:prstGeom prst="pie">
            <a:avLst>
              <a:gd name="adj1" fmla="val 18900000"/>
              <a:gd name="adj2" fmla="val 21600000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5440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 8 fatias pintadas → 2/8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 retângulo à fração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 retângulo está dividido em 4 partes e 2 estão pintadas, temos: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1485900" cy="1280160"/>
          </a:xfrm>
          <a:prstGeom prst="rect">
            <a:avLst/>
          </a:prstGeom>
          <a:solidFill>
            <a:srgbClr val="F96167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7420" y="2834640"/>
            <a:ext cx="1485900" cy="1280160"/>
          </a:xfrm>
          <a:prstGeom prst="rect">
            <a:avLst/>
          </a:prstGeom>
          <a:solidFill>
            <a:srgbClr val="F96167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03320" y="2834640"/>
            <a:ext cx="14859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9220" y="2834640"/>
            <a:ext cx="14859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28803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2/4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9052560" y="2926080"/>
            <a:ext cx="640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99999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=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9692640" y="28803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61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1/2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F9E795">
              <a:alpha val="70000"/>
            </a:srgbClr>
          </a:solidFill>
          <a:ln w="19050">
            <a:solidFill>
              <a:srgbClr val="F9E7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8463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2/4 é igual a 1/2 — mesmo caminho diferente, mesma quantidade pintada. Isso é uma fração equivalente.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Fração como parte de um todo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barra de chocolate foi dividida em 4 partes iguais. Se você comeu 1 parte, a fração é: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961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1/4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r>
              <a:rPr lang="en-US" sz="15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numerador: partes comidas
</a:t>
            </a: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r>
              <a:rPr lang="en-US" sz="15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denominador: total de partes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0" y="2743200"/>
            <a:ext cx="1143000" cy="2377440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92440" y="2743200"/>
            <a:ext cx="11430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0" y="2743200"/>
            <a:ext cx="11430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78440" y="2743200"/>
            <a:ext cx="11430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PRATICAR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Exercício — Questões 1 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920240"/>
          </a:xfrm>
          <a:prstGeom prst="roundRect">
            <a:avLst>
              <a:gd name="adj" fmla="val 5714"/>
            </a:avLst>
          </a:prstGeom>
          <a:solidFill>
            <a:srgbClr val="FFFBF2"/>
          </a:solidFill>
          <a:ln w="19050">
            <a:solidFill>
              <a:srgbClr val="F9E7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6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retângulo foi dividido em 4 partes iguais. Duas partes foram pintadas. Qual fração representa a parte pintada?
</a:t>
            </a: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1/4    b) 2/4    c) 3/4    d) 4/2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11064240" cy="1920240"/>
          </a:xfrm>
          <a:prstGeom prst="roundRect">
            <a:avLst>
              <a:gd name="adj" fmla="val 5714"/>
            </a:avLst>
          </a:prstGeom>
          <a:solidFill>
            <a:srgbClr val="FFFBF2"/>
          </a:solidFill>
          <a:ln w="19050">
            <a:solidFill>
              <a:srgbClr val="F9E7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976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6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pizza dividida em 8 fatias iguais, 3 fatias foram comidas. Qual fração representa a parte comida?
</a:t>
            </a: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8/3    b) 3/8    c) 5/8    d) 1/3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PRATICAR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Exercício — Questões 3 e 4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FFFBF2"/>
          </a:solidFill>
          <a:ln w="19050">
            <a:solidFill>
              <a:srgbClr val="F9E7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6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com suas palavras o que o denominador mostra em uma fração.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11064240" cy="2103120"/>
          </a:xfrm>
          <a:prstGeom prst="roundRect">
            <a:avLst>
              <a:gd name="adj" fmla="val 5217"/>
            </a:avLst>
          </a:prstGeom>
          <a:solidFill>
            <a:srgbClr val="FFFBF2"/>
          </a:solidFill>
          <a:ln w="19050">
            <a:solidFill>
              <a:srgbClr val="F9E7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97764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6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Desenhe um retângulo dividido em 6 partes iguais e pinte 4 partes. Depois, escreva a fração representada.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869680" y="4526280"/>
            <a:ext cx="411480" cy="1005840"/>
          </a:xfrm>
          <a:prstGeom prst="rect">
            <a:avLst/>
          </a:prstGeom>
          <a:solidFill>
            <a:srgbClr val="F96167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4526280"/>
            <a:ext cx="411480" cy="1005840"/>
          </a:xfrm>
          <a:prstGeom prst="rect">
            <a:avLst/>
          </a:prstGeom>
          <a:solidFill>
            <a:srgbClr val="F96167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0" y="4526280"/>
            <a:ext cx="411480" cy="1005840"/>
          </a:xfrm>
          <a:prstGeom prst="rect">
            <a:avLst/>
          </a:prstGeom>
          <a:solidFill>
            <a:srgbClr val="F96167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04120" y="4526280"/>
            <a:ext cx="411480" cy="1005840"/>
          </a:xfrm>
          <a:prstGeom prst="rect">
            <a:avLst/>
          </a:prstGeom>
          <a:solidFill>
            <a:srgbClr val="F96167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0" y="4526280"/>
            <a:ext cx="4114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27080" y="4526280"/>
            <a:ext cx="4114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PRATICAR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Questão 5 e gabarito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BF2"/>
          </a:solidFill>
          <a:ln w="19050">
            <a:solidFill>
              <a:srgbClr val="F9E7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6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das frações abaixo pode representar metade de uma figura?  </a:t>
            </a: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1/3   b) 2/4   c) 3/5   d) 4/6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41605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2/4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46634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3/8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516636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denominador mostra em quantas partes iguais o todo foi dividido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66928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669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566928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Retângulo com 6 partes, 4 pintadas → fração 4/6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61722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6172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61722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2/4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PRÁTICA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Galeria das Frações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minutos · 8 grupos de 4 alunos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representações visuais de frações usando retângulos em papel quadriculado, relacionando corretamente numerador, denominador e partes pintadas.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75120" y="260604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78040" y="257860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recebe 2 ou 3 frações (cartões).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75120" y="347472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78040" y="344728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Desenha um retângulo dividido de acordo com o denominador.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0" y="434340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78040" y="431596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Pinta a quantidade de partes indicada pelo numerador.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75120" y="521208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5212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78040" y="518464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 a fração e uma frase explicando a representação.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PRÁTICA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Materiais e critérios de sucesso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94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Materiais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72491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quadriculado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50215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34670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Canetinhas ou lápis de cor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12394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96849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745736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59028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Cartões com frações (1/2, 2/3, 3/4, 4/6, 5/8, 6/10)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2194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Critérios de sucesso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2880360"/>
            <a:ext cx="128016" cy="1280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272491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dividida em partes iguais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3502152"/>
            <a:ext cx="128016" cy="1280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34670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pintadas correspondem ao numerador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92240" y="4123944"/>
            <a:ext cx="128016" cy="1280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396849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partes corresponde ao denominador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92240" y="4745736"/>
            <a:ext cx="128016" cy="1280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459028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Explicação escrita está clara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92240" y="5367528"/>
            <a:ext cx="128016" cy="1280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52120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trabalhou de forma colaborativa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Rubrica de avaliação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32918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Excelente (3)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 (2)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desenvolvimento 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Compreensão de frações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Entende e aplica corretamente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Entende parcialmente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Mostra confusão conceitual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Representação visual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Clara e proporcional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Parcialmente correta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Pouco precisa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Trabalho em grupo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Colabora ativamente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 com ajuda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Participação limitada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57784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9E795">
              <a:alpha val="70000"/>
            </a:srgbClr>
          </a:solidFill>
          <a:ln w="15240">
            <a:solidFill>
              <a:srgbClr val="F9E79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foco da avaliação é a compreensão da relação parte-todo, respeitando o ritmo de cada estudante.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IR ALÉM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Frações equivalentes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Frações diferentes podem representar a mesma quantidade:</a:t>
            </a:r>
            <a:endParaRPr lang="en-US" sz="1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60320"/>
          <a:ext cx="4206240" cy="34747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212080" y="2560320"/>
            <a:ext cx="6400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bandeja tem 12 pedaços de bolo. Foram comidos 6. Que fração foi comida? Existe uma forma mais simples de escrever essa fração?
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6/12 = 1/2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3657600" cy="3657600"/>
          </a:xfrm>
          <a:prstGeom prst="ellipse">
            <a:avLst/>
          </a:prstGeom>
          <a:solidFill>
            <a:srgbClr val="F96167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389120"/>
            <a:ext cx="2926080" cy="2926080"/>
          </a:xfrm>
          <a:prstGeom prst="ellipse">
            <a:avLst/>
          </a:prstGeom>
          <a:solidFill>
            <a:srgbClr val="F9E795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 que aprendemos hoje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146304" cy="14630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49631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Fração representa uma parte de um todo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291840"/>
            <a:ext cx="146304" cy="14630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13639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Numerador = partes tomadas · Denominador = total de partes iguais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931920"/>
            <a:ext cx="146304" cy="14630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7764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Retângulos e pizzas ajudam a visualizar frações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572000"/>
            <a:ext cx="146304" cy="14630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41655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Frações diferentes podem representar a mesma quantidade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5778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Dúvidas?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839</Words>
  <Application>Microsoft Office PowerPoint</Application>
  <PresentationFormat>Widescreen</PresentationFormat>
  <Paragraphs>168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Century Schoolbook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Luiz Cruz</cp:lastModifiedBy>
  <cp:revision>1</cp:revision>
  <dcterms:created xsi:type="dcterms:W3CDTF">2026-08-14T18:16:00Z</dcterms:created>
  <dcterms:modified xsi:type="dcterms:W3CDTF">2026-08-14T18:18:23Z</dcterms:modified>
</cp:coreProperties>
</file>